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8" r:id="rId10"/>
    <p:sldId id="267" r:id="rId11"/>
    <p:sldId id="271" r:id="rId12"/>
    <p:sldId id="264" r:id="rId13"/>
    <p:sldId id="265" r:id="rId14"/>
    <p:sldId id="266" r:id="rId15"/>
    <p:sldId id="270" r:id="rId16"/>
    <p:sldId id="272" r:id="rId17"/>
    <p:sldId id="269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108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301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real dental-clinic web application deployed on AWS as a scalable, highly available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idea: move from one machine that does everything to separate layers, each of which can fail or scale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properties are the reason for every service choice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edge, then the VPC, then the three tiers inside each Availability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backend is bound to loopback, ports 3000 and 8000 are never exposed — the whole application is published on port 80 through Nginx.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reboot test: without it, every auto-launched instance would come up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public and private are defined by the route table, not by a checkbox.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per-AZ NAT decision is the clearest availability-versus-cost trade-off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clearest example of least privilege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standby carries no traffic — it exists purely so the database can be promoted.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Auto Scaling angle: a manual per-instance access method simply cannot work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Launch Template is the source of truth for instance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diagram: metric rises, policy evaluates, instance launches, health check passes, ALB starts sending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ALB, the Target Group and the ASG are decoupled: the ALB routes, the Target Group tracks health, the ASG manages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hit/miss path shown in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an alarm on a specific instance would break the moment Auto Scaling replaced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three rules currently count rather than block — that is a deliberate, temporary tuning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what was not built is part of an honest architecture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ties every previous service together into one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failure is handled by a different service, which is exactly why the layers are separated.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Knowing the limits of your own design is part of the architect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objective and inviting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1463040"/>
            <a:ext cx="4206240" cy="4206240"/>
          </a:xfrm>
          <a:prstGeom prst="ellipse">
            <a:avLst/>
          </a:prstGeom>
          <a:solidFill>
            <a:srgbClr val="1D3550"/>
          </a:solidFill>
          <a:ln w="12700">
            <a:solidFill>
              <a:srgbClr val="1D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55680" y="4846320"/>
            <a:ext cx="2743200" cy="2743200"/>
          </a:xfrm>
          <a:prstGeom prst="ellipse">
            <a:avLst/>
          </a:prstGeom>
          <a:solidFill>
            <a:srgbClr val="1D3550"/>
          </a:solidFill>
          <a:ln w="12700">
            <a:solidFill>
              <a:srgbClr val="1D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051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  ·  AWS SOLUTIONS ARCHITECT  ·  GRADUATION TRACK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63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Lumina Dental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4871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scalable, highly available web application on AWS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94436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 ·  Auto Scaling  ·  Application Load Balancer  ·  RDS PostgreSQL  ·  CloudFront  ·  WAF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840480"/>
            <a:ext cx="5120640" cy="2057400"/>
          </a:xfrm>
          <a:prstGeom prst="roundRect">
            <a:avLst>
              <a:gd name="adj" fmla="val 4000"/>
            </a:avLst>
          </a:prstGeom>
          <a:solidFill>
            <a:srgbClr val="1D3550"/>
          </a:solidFill>
          <a:ln w="12700">
            <a:solidFill>
              <a:srgbClr val="29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51560" y="40690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Benha University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in Shoubra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Communication and Electronics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academic year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3840480"/>
            <a:ext cx="5212080" cy="2057400"/>
          </a:xfrm>
          <a:prstGeom prst="roundRect">
            <a:avLst>
              <a:gd name="adj" fmla="val 4000"/>
            </a:avLst>
          </a:prstGeom>
          <a:solidFill>
            <a:srgbClr val="1D3550"/>
          </a:solidFill>
          <a:ln w="12700">
            <a:solidFill>
              <a:srgbClr val="29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46520" y="40690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150" b="1" kern="0" spc="15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Zeyad Bilal Gamal</a:t>
            </a:r>
            <a:endParaRPr lang="en-US" sz="11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course: NTI </a:t>
            </a:r>
            <a:r>
              <a:rPr lang="ar-EG" sz="13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3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AWS Solutions Architect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the deployment had to solve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173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a Next.js frontend, a FastAPI backend and a PostgreSQL database originally ran on one single server. The objective was to redeploy it on AWS so that it keeps running when a server fails, grows with demand, and exposes only one controlled entry point to the internet.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51460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FBF1EF"/>
          </a:solidFill>
          <a:ln w="12700">
            <a:solidFill>
              <a:srgbClr val="F0D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9992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server does everything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456432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and database on the same EC2 instance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is a single point of failure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means manually building a bigger server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and SSH port are exposed to the internet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55080" y="2514600"/>
            <a:ext cx="5257800" cy="2880360"/>
          </a:xfrm>
          <a:prstGeom prst="roundRect">
            <a:avLst>
              <a:gd name="adj" fmla="val 2857"/>
            </a:avLst>
          </a:prstGeom>
          <a:solidFill>
            <a:srgbClr val="EEF7F1"/>
          </a:solidFill>
          <a:ln w="12700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656832" y="2724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29992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layered, multi-AZ architecture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702552" y="3456432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stateless servers across two Availability Zones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balancer is the only public entry point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grows and shrinks automatically with demand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private, managed, and replicated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 matters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57400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properties the architecture was built to deliver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332" y="1223454"/>
            <a:ext cx="3602736" cy="1965960"/>
          </a:xfrm>
          <a:prstGeom prst="roundRect">
            <a:avLst>
              <a:gd name="adj" fmla="val 4186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364" y="1479486"/>
            <a:ext cx="310896" cy="310896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5364" y="14794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5988" y="146119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652" y="1918398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two instances across two Availability Zones, plus a standby database. Losing one server or one zone is not an outage.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25324" y="1223454"/>
            <a:ext cx="3602736" cy="1965960"/>
          </a:xfrm>
          <a:prstGeom prst="roundRect">
            <a:avLst>
              <a:gd name="adj" fmla="val 4186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1356" y="1479486"/>
            <a:ext cx="310896" cy="310896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381356" y="14794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01980" y="146119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99644" y="1918398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 Scaling Group adds instances from 2 up to 6 when CPU rises, and removes them when it falls. No manual 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5587" y="1223454"/>
            <a:ext cx="3602736" cy="1965960"/>
          </a:xfrm>
          <a:prstGeom prst="roundRect">
            <a:avLst>
              <a:gd name="adj" fmla="val 4186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21619" y="1479486"/>
            <a:ext cx="310896" cy="310896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121619" y="14794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42243" y="1461198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in depth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139907" y="1918398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database live in private subnets. Only the load balancer is public, and WAF inspects every request before it arrives.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1524" y="3276775"/>
            <a:ext cx="3602736" cy="1965960"/>
          </a:xfrm>
          <a:prstGeom prst="roundRect">
            <a:avLst>
              <a:gd name="adj" fmla="val 4186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47556" y="3532807"/>
            <a:ext cx="310896" cy="310896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7556" y="35328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68180" y="3514519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65844" y="3971719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CloudWatch alarms across the scaling group, load balancer, target group and database, all sending email through SNS.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25324" y="3276775"/>
            <a:ext cx="3602736" cy="1965960"/>
          </a:xfrm>
          <a:prstGeom prst="roundRect">
            <a:avLst>
              <a:gd name="adj" fmla="val 4186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381356" y="3532807"/>
            <a:ext cx="310896" cy="310896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381356" y="352975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01980" y="3514519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Operability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399644" y="3971719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are disposable: built from one Golden AMI, replaced automatically, and reachable through Session Manager without SSH.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5587" y="3276775"/>
            <a:ext cx="3602736" cy="1965960"/>
          </a:xfrm>
          <a:prstGeom prst="roundRect">
            <a:avLst>
              <a:gd name="adj" fmla="val 4186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21619" y="3532807"/>
            <a:ext cx="310896" cy="310896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121619" y="35328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542243" y="3514519"/>
            <a:ext cx="2688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awareness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139907" y="3971719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maximum of six instances puts a ceiling on spend, and every fixed cost in the design buys a specific availability guarantee.</a:t>
            </a:r>
            <a:endParaRPr lang="en-US" sz="1200" dirty="0"/>
          </a:p>
        </p:txBody>
      </p:sp>
      <p:sp>
        <p:nvSpPr>
          <p:cNvPr id="42" name="Shape 26">
            <a:extLst>
              <a:ext uri="{FF2B5EF4-FFF2-40B4-BE49-F238E27FC236}">
                <a16:creationId xmlns:a16="http://schemas.microsoft.com/office/drawing/2014/main" id="{3456AEE7-DB18-EDC2-B2F3-4A4602532C4E}"/>
              </a:ext>
            </a:extLst>
          </p:cNvPr>
          <p:cNvSpPr/>
          <p:nvPr/>
        </p:nvSpPr>
        <p:spPr>
          <a:xfrm>
            <a:off x="4125324" y="5328106"/>
            <a:ext cx="7354644" cy="1210001"/>
          </a:xfrm>
          <a:prstGeom prst="roundRect">
            <a:avLst>
              <a:gd name="adj" fmla="val 4186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05314A01-28AB-56AF-EE37-9479404AC855}"/>
              </a:ext>
            </a:extLst>
          </p:cNvPr>
          <p:cNvSpPr txBox="1"/>
          <p:nvPr/>
        </p:nvSpPr>
        <p:spPr>
          <a:xfrm>
            <a:off x="4686156" y="38376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0" name="Shape 27">
            <a:extLst>
              <a:ext uri="{FF2B5EF4-FFF2-40B4-BE49-F238E27FC236}">
                <a16:creationId xmlns:a16="http://schemas.microsoft.com/office/drawing/2014/main" id="{87CA18B8-3866-313B-DCF9-48CA31645009}"/>
              </a:ext>
            </a:extLst>
          </p:cNvPr>
          <p:cNvSpPr/>
          <p:nvPr/>
        </p:nvSpPr>
        <p:spPr>
          <a:xfrm>
            <a:off x="4371560" y="5544413"/>
            <a:ext cx="310896" cy="310896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BB3481-2FA3-D6E4-6BA6-867E09457779}"/>
              </a:ext>
            </a:extLst>
          </p:cNvPr>
          <p:cNvSpPr txBox="1"/>
          <p:nvPr/>
        </p:nvSpPr>
        <p:spPr>
          <a:xfrm>
            <a:off x="4399643" y="5561361"/>
            <a:ext cx="2533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1B08AF-0B7D-360D-F270-6E7B4D28D495}"/>
              </a:ext>
            </a:extLst>
          </p:cNvPr>
          <p:cNvSpPr txBox="1"/>
          <p:nvPr/>
        </p:nvSpPr>
        <p:spPr>
          <a:xfrm>
            <a:off x="4692252" y="5554638"/>
            <a:ext cx="1609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</a:rPr>
              <a:t>Performance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06975C6-14B8-EA0D-AC6C-C711E610551C}"/>
              </a:ext>
            </a:extLst>
          </p:cNvPr>
          <p:cNvSpPr txBox="1"/>
          <p:nvPr/>
        </p:nvSpPr>
        <p:spPr>
          <a:xfrm>
            <a:off x="4652962" y="5933106"/>
            <a:ext cx="609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CloudFront caches static assets, reducing latency for users and decreasing the number of requests reaching the origin.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at a glance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services, a two-zone VPC, and three subnet tiers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4939" y="1146552"/>
            <a:ext cx="7785361" cy="519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1700784"/>
            <a:ext cx="3401568" cy="4038600"/>
          </a:xfrm>
          <a:prstGeom prst="roundRect">
            <a:avLst>
              <a:gd name="adj" fmla="val 2419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503920" y="1700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DIAGRAM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2066544"/>
            <a:ext cx="287121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reach CloudFront, where WAF inspects the request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Load Balancer is the only public entry point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 run in private subnets in two Availability Zones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sits in isolated database subnets with no internet route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Gateways give instances outbound access only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CloudWatch, SNS and Systems Manager sit outside the traffic path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 on each instance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 port, three internal services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8" name="Image 0" descr="dg/02_ngin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444" y="1600200"/>
            <a:ext cx="8552807" cy="1828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384048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41248" y="404164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 :80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4443984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process listening on the network. It receives every request and decides where it goes.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25696" y="384048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700016" y="404164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 :3000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700016" y="4443984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pages. Requests to / are proxied to it internally.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84464" y="3840480"/>
            <a:ext cx="3602736" cy="1691640"/>
          </a:xfrm>
          <a:prstGeom prst="roundRect">
            <a:avLst>
              <a:gd name="adj" fmla="val 4865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8558784" y="404164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 :8000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558784" y="4443984"/>
            <a:ext cx="30540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C4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127.0.0.1, so it cannot be reached from outside the instance at all. Requests to /api/ are proxied to it.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EC2 and the Golden AMI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one validated server, then cloning it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47088"/>
            <a:ext cx="5806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one t3.small instance with Nginx, the Next.js build, FastAPI under Uvicorn and the RDS connection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backend with curl it returned {"status":"ok","service":"Lumina Dental API"}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Rebooted the instance and confirmed all three services came back automatically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that validated instance as the Golden AMI used by every later instance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910328" cy="3179064"/>
          </a:xfrm>
          <a:prstGeom prst="roundRect">
            <a:avLst>
              <a:gd name="adj" fmla="val 2589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951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29968"/>
            <a:ext cx="4361688" cy="249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runs a conventional server stack directly, so the application needed no rewriting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the environment into an AMI means every new instance is identical, with nothing to configure at boot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reboot test matters because Auto Scaling launches instances with nobody watching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AMI holds the application only the database stays outside, which is what makes instances disposable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VPC and the subnet design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network everything else lives inside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47088"/>
            <a:ext cx="5806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VPC aws-project-vpc with the CIDR 10.0.0.0/16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it into six subnets across two Availability Zones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10.0.1.0/24 and 10.0.2.0/24 for the NAT Gateways and the load balancer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application subnets 10.0.11.0/24 and 10.0.12.0/24 for the EC2 instances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database subnets 10.0.21.0/24 and 10.0.22.0/24 for RDS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route tables  the database ones carry no default route at all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910328" cy="3179064"/>
          </a:xfrm>
          <a:prstGeom prst="roundRect">
            <a:avLst>
              <a:gd name="adj" fmla="val 2589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951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29968"/>
            <a:ext cx="4361688" cy="249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VPC is the boundary that makes every later security control possible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instead of two: the application needs outbound internet access, the database needs none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Availability Zones so that losing one AWS facility does not take the system down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is only "private" because of its route table — that is where the isolation actually lives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Gateway and NAT Gateways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which direction traffic can flow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47088"/>
            <a:ext cx="5806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the Internet Gateway aws-project-igw and gave the public route table a 0.0.0.0/0 route to it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two NAT Gateways, one in each public subnet, each with its own Elastic IP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 each private application route table at the NAT Gateway in its own Availability Zone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database route tables with the local route only — no path to the internet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910328" cy="3179064"/>
          </a:xfrm>
          <a:prstGeom prst="roundRect">
            <a:avLst>
              <a:gd name="adj" fmla="val 2589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951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29968"/>
            <a:ext cx="4361688" cy="249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instances still need outbound access for Systems Manager and package updates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 Gateway allows outbound connections only; it never accepts unsolicited inbound traffic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NAT per zone costs more, but it means a zone failure cannot cut off the healthy zone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managed service, so there is no NAT instance to patch or keep highly available myself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Groups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firewall for each tier, chained together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5532120" cy="170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alb-sg allows TCP 80 from the internet into the load balancer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ec2-sg allows TCP 80 from alb-sg only — and no SSH rule at all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rds-sg allows TCP 5432 from ec2-sg only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internet access to the instances and to the database is therefore blocked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733038"/>
            <a:ext cx="5532120" cy="2164842"/>
          </a:xfrm>
          <a:prstGeom prst="roundRect">
            <a:avLst>
              <a:gd name="adj" fmla="val 3801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93420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63390"/>
            <a:ext cx="5029200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references the Security Group above it instead of an IP range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addresses change constantly under Auto Scaling, so an IP-based rule would be either too broad or unmaintainable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follows group membership, so new instances are trusted automatically</a:t>
            </a:r>
            <a:endParaRPr lang="en-US" sz="1300" dirty="0"/>
          </a:p>
        </p:txBody>
      </p:sp>
      <p:pic>
        <p:nvPicPr>
          <p:cNvPr id="13" name="Image 0" descr="dg/05_s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69929"/>
            <a:ext cx="5349240" cy="2866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RDS for PostgreSQL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database off the application servers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55321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RDS PostgreSQL into the private database subnets on port 5432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the application to connect through the RDS endpoint, not an instance address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it as a Multi-AZ primary with a synchronised standby in the second zone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access so that only the application Security Group can connect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206240"/>
            <a:ext cx="5532120" cy="1883664"/>
          </a:xfrm>
          <a:prstGeom prst="roundRect">
            <a:avLst>
              <a:gd name="adj" fmla="val 4865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3659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patching, replication and failover are handled by AWS instead of by me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endpoint means a failover is transparent to the application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state in RDS is what makes the EC2 instances stateless and replaceable</a:t>
            </a:r>
            <a:endParaRPr lang="en-US" sz="1300" dirty="0"/>
          </a:p>
        </p:txBody>
      </p:sp>
      <p:pic>
        <p:nvPicPr>
          <p:cNvPr id="13" name="Image 0" descr="dg/04_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296736"/>
            <a:ext cx="5349240" cy="28131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 and AWS Systems Manager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access without SSH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55321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IAM role LuminaEC2SSMRole with the managed policy AmazonSSMManagedInstanceCore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it through the instance profile referenced in the Launch Template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SSM Agent on the instance and confirmed it appeared as a Managed Node with status Online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an interactive Session Manager shell from the console and inspected Nginx and the listening ports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206240"/>
            <a:ext cx="5532120" cy="1883664"/>
          </a:xfrm>
          <a:prstGeom prst="roundRect">
            <a:avLst>
              <a:gd name="adj" fmla="val 4865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3659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SSH port, no key pair to distribute, no public IP and no bastion host to maintain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controlled by IAM, and only outbound HTTPS is required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the Auto Scaling Group launches becomes manageable automatically</a:t>
            </a:r>
            <a:endParaRPr lang="en-US" sz="1300" dirty="0"/>
          </a:p>
        </p:txBody>
      </p:sp>
      <p:pic>
        <p:nvPicPr>
          <p:cNvPr id="13" name="Image 0" descr="dg/07_ssm_i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695" y="1463040"/>
            <a:ext cx="1755450" cy="448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Launch Template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definition of how an instance is built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47088"/>
            <a:ext cx="5806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Launch Template based on the Golden AMI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instance type to t3.small and attached the application Security Group ec2-sg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the IAM instance profile carrying the role LuminaEC2SSMRole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subnet placement to the Auto Scaling Group so instances spread across both zones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910328" cy="3179064"/>
          </a:xfrm>
          <a:prstGeom prst="roundRect">
            <a:avLst>
              <a:gd name="adj" fmla="val 2589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951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29968"/>
            <a:ext cx="4361688" cy="249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only means something if instance number two is identical to instance number one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one place where AMI, instance type, security group and permissions are defined together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the Auto Scaling Group creates inherits the same configuration automatically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the application later is a new template version, not a manual change on each server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Auto Scaling Group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capacity and replacing failures automatically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5532120" cy="170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Auto Scaling Group across both private application subnets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minimum 2, desired 2 and maximum 6 instances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it to the ALB Target Group so registration is automatic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target-tracking scaling policy based on CPU utilisation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733038"/>
            <a:ext cx="5532120" cy="2151380"/>
          </a:xfrm>
          <a:prstGeom prst="roundRect">
            <a:avLst>
              <a:gd name="adj" fmla="val 3825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93420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63390"/>
            <a:ext cx="5029200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of 2 means a single instance failure is a capacity event, not an outage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replaces failed instances by itself the compute layer becomes self-healing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maximum of 6 puts a firm ceiling on both capacity and cost</a:t>
            </a:r>
            <a:endParaRPr lang="en-US" sz="1300" dirty="0"/>
          </a:p>
        </p:txBody>
      </p:sp>
      <p:pic>
        <p:nvPicPr>
          <p:cNvPr id="13" name="Image 0" descr="dg/03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93" y="1463040"/>
            <a:ext cx="3311853" cy="448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Load Balancer and Target Group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public entry point of the application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47088"/>
            <a:ext cx="5806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 internet-facing Application Load Balancer across both Availability Zones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an HTTP listener on port 80 forwarding to the application Target Group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Target Group with target type instance, protocol HTTP on port 80, and health checks enabled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was not configured, because a public certificate requires a domain name (see the Route 53 slide)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910328" cy="3391662"/>
          </a:xfrm>
          <a:prstGeom prst="roundRect">
            <a:avLst>
              <a:gd name="adj" fmla="val 2426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951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29968"/>
            <a:ext cx="4361688" cy="2705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 application one stable address that does not depend on any individual instance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stop traffic reaching a broken instance within seconds, before any replacement happens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users talk to the ALB, the EC2 instances can stay completely private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at Layer 7 means it understands HTTP, which is what allows path-based health checks and future TLS termination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CloudFront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static content from the edge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5532120" cy="2128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distribution with the Application Load Balancer as its origin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static assets JavaScript, CSS, images and fonts at the edge locations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dynamic pages and /api/ requests to pass through to the origin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never talks to the EC2 instances directly; it always goes through the ALB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158234"/>
            <a:ext cx="5532120" cy="1931670"/>
          </a:xfrm>
          <a:prstGeom prst="roundRect">
            <a:avLst>
              <a:gd name="adj" fmla="val 4731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35940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88586"/>
            <a:ext cx="5029200" cy="1099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 are served closer to the user, which reduces latency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requests never reach the ALB or the instances, freeing capacity for real work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depend on the user and the database, so caching them would return stale or wrong data</a:t>
            </a:r>
            <a:endParaRPr lang="en-US" sz="1300" dirty="0"/>
          </a:p>
        </p:txBody>
      </p:sp>
      <p:pic>
        <p:nvPicPr>
          <p:cNvPr id="13" name="Image 0" descr="dg/06_cloudfro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795" y="1463040"/>
            <a:ext cx="2737249" cy="448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CloudWatch and SNS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something goes wrong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28800"/>
            <a:ext cx="5532120" cy="2667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seven alarms on a five-minute period across four services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Group: in-service instances below 2. Target Group: healthy hosts below 2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and targets: more than five 4XX responses in five minutes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RDS: CPU above 80%, connections above 80, free storage below 2 GB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every alarm to an SNS topic that delivers email notifications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206240"/>
            <a:ext cx="5532120" cy="1991106"/>
          </a:xfrm>
          <a:prstGeom prst="roundRect">
            <a:avLst>
              <a:gd name="adj" fmla="val 4865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4074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3659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are set on group-level metrics, so they survive instances being replaced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In-service count and healthy host count detect two genuinely different failures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turns an alarm state change into something a person actually sees</a:t>
            </a:r>
            <a:endParaRPr lang="en-US" sz="1300" dirty="0"/>
          </a:p>
        </p:txBody>
      </p:sp>
      <p:pic>
        <p:nvPicPr>
          <p:cNvPr id="13" name="Image 0" descr="dg/09_aler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264" y="1463040"/>
            <a:ext cx="3996313" cy="448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WAF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requests before they reach the application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EG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813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IMPLEMENTED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47088"/>
            <a:ext cx="5806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Web ACL combining four AWS managed rule groups: Common, SQL injection, Admin Protection and Anti-DDoS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custom rules: IPv4 and IPv6 allow and block lists, a geographic restriction, a global rate-based rule and a body-size rule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it: a request to /admin returned HTTP 403, traced through sampled requests to the rule AdminProtection_URIPATH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a real internet scanner reaching the public endpoint, confirming WAF inspects live traffic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34556" y="1202436"/>
            <a:ext cx="4910328" cy="3179064"/>
          </a:xfrm>
          <a:prstGeom prst="roundRect">
            <a:avLst>
              <a:gd name="adj" fmla="val 2589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995160" y="16642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THIS SERVICE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2029968"/>
            <a:ext cx="4361688" cy="249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filter by address and port; WAF is the only layer that understands the request itself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protection matters directly here, because the backend talks to a PostgreSQL database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AWS-managed rule groups stay updated without me writing attack signatures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Route 53 and HTTPS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documented, but deliberately not deployed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630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BF1EF"/>
          </a:solidFill>
          <a:ln w="12700">
            <a:solidFill>
              <a:srgbClr val="F0D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5727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planned, not implemented — no domain name was purchased, so no public certificate could be issued.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DESIGN CALLS FOR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52928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 53 hosted zone for the purchased domain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Alias A record pointing the root domain straight at the Application Load Balancer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ACM certificate validated by DNS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HTTPS listener on port 443 with the certificate attached to the ALB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80 listener changed to redirect to HTTPS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20840" y="2395728"/>
            <a:ext cx="4910328" cy="3566160"/>
          </a:xfrm>
          <a:prstGeom prst="roundRect">
            <a:avLst>
              <a:gd name="adj" fmla="val 2308"/>
            </a:avLst>
          </a:prstGeom>
          <a:solidFill>
            <a:srgbClr val="FDF3EA"/>
          </a:solidFill>
          <a:ln w="12700">
            <a:solidFill>
              <a:srgbClr val="F3D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995160" y="2615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BELONGS IN THE DESIGN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980944"/>
            <a:ext cx="4361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Alias record can point a root domain at an AWS resource, which a normal CNAME cannot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Terminating TLS at the load balancer means the certificate is managed in one place, not on every instance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matters here because Auto Scaling creates and destroys instances continuously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A31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currently runs over HTTP, which is the most important gap left in the project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request flow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user request travels through the whole system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8" name="Image 0" descr="dg/10_req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3387382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1481328"/>
            <a:ext cx="4133088" cy="4362450"/>
          </a:xfrm>
          <a:prstGeom prst="roundRect">
            <a:avLst>
              <a:gd name="adj" fmla="val 1991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790688" y="1719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2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IN WORDS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2084832"/>
            <a:ext cx="3566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answers immediately if the asset is already cached at the edge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WAF inspects the request and can block it with a 403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ALB listener forwards the request to the Target Group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Group picks a healthy private instance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sends / to Next.js and /api/ to FastAPI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queries RDS over port 5432 inside the VPC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returns along the same path and may be cached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something fails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judged by how it behaves on a bad day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600200"/>
            <a:ext cx="3602736" cy="2791460"/>
          </a:xfrm>
          <a:prstGeom prst="roundRect">
            <a:avLst>
              <a:gd name="adj" fmla="val 2948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41248" y="182880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instance fails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359152"/>
            <a:ext cx="30540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fail and the ALB stops sending it traffic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healthy instance keeps serving users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 Scaling Group launches a replacement from the AMI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notify me by email throughout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25696" y="1600200"/>
            <a:ext cx="3602736" cy="2988310"/>
          </a:xfrm>
          <a:prstGeom prst="roundRect">
            <a:avLst>
              <a:gd name="adj" fmla="val 2754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00016" y="182880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whole zone fails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2359152"/>
            <a:ext cx="30540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 balancer serves from the surviving zone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can launch instances there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zone has its own NAT Gateway, so outbound access survives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halved, but the service stays up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84464" y="1600200"/>
            <a:ext cx="3602736" cy="3185160"/>
          </a:xfrm>
          <a:prstGeom prst="roundRect">
            <a:avLst>
              <a:gd name="adj" fmla="val 2584"/>
            </a:avLst>
          </a:prstGeom>
          <a:solidFill>
            <a:srgbClr val="F6F8FA"/>
          </a:solidFill>
          <a:ln w="12700">
            <a:solidFill>
              <a:srgbClr val="E4E9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558784" y="182880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A2F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fails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558784" y="2359152"/>
            <a:ext cx="30540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promotes the standby in the other zone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is repointed to the new primary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reconnects without a configuration change</a:t>
            </a:r>
            <a:endParaRPr lang="en-US" sz="12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4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short interruption during the failover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475488" cy="475488"/>
          </a:xfrm>
          <a:prstGeom prst="ellipse">
            <a:avLst/>
          </a:prstGeom>
          <a:solidFill>
            <a:srgbClr val="ED7100"/>
          </a:solidFill>
          <a:ln w="12700">
            <a:solidFill>
              <a:srgbClr val="ED7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6576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what I would do next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3268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assessment of the current deployment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 Dental  ·  NTI AWS Solutions Architect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3AE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BF1EF"/>
          </a:solidFill>
          <a:ln w="12700">
            <a:solidFill>
              <a:srgbClr val="F0D9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68680" y="1719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084832"/>
            <a:ext cx="48280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runs over HTTP  no domain, so no TLS certificate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logging: logs disappear with the instance that produced them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a single writable primary it does not scale horizontally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B2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manual: build an AMI, version the template, replace the instances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1481328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EEF7F1"/>
          </a:solidFill>
          <a:ln w="12700">
            <a:solidFill>
              <a:srgbClr val="CFE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37960" y="17190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084832"/>
            <a:ext cx="48280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4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domain, add Route 53 and an ACM certificate, and move to HTTPS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4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Nginx, application and ALB access logs to CloudWatch Logs and S3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4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RDS Proxy for connection pooling and ElastiCache for repeated reads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4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infrastructure as code and automate the release with a pipeline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5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1D3550"/>
          </a:solidFill>
          <a:ln w="12700">
            <a:solidFill>
              <a:srgbClr val="1D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1097280"/>
            <a:ext cx="3291840" cy="3291840"/>
          </a:xfrm>
          <a:prstGeom prst="ellipse">
            <a:avLst/>
          </a:prstGeom>
          <a:solidFill>
            <a:srgbClr val="1D3550"/>
          </a:solidFill>
          <a:ln w="12700">
            <a:solidFill>
              <a:srgbClr val="1D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325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summary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1488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6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single-server application was rebuilt as a layered AWS architecture: stateless compute behind a load balancer, a managed database in isolated subnets, security enforced at every tier, and monitoring that reports failures before users do.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2624328" cy="1417320"/>
          </a:xfrm>
          <a:prstGeom prst="roundRect">
            <a:avLst>
              <a:gd name="adj" fmla="val 5806"/>
            </a:avLst>
          </a:prstGeom>
          <a:solidFill>
            <a:srgbClr val="1D3550"/>
          </a:solidFill>
          <a:ln w="12700">
            <a:solidFill>
              <a:srgbClr val="29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76732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D7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34340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75888" y="3611880"/>
            <a:ext cx="2624328" cy="1417320"/>
          </a:xfrm>
          <a:prstGeom prst="roundRect">
            <a:avLst>
              <a:gd name="adj" fmla="val 5806"/>
            </a:avLst>
          </a:prstGeom>
          <a:solidFill>
            <a:srgbClr val="1D3550"/>
          </a:solidFill>
          <a:ln w="12700">
            <a:solidFill>
              <a:srgbClr val="29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675888" y="376732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D7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813048" y="434340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28816" y="3611880"/>
            <a:ext cx="2624328" cy="1417320"/>
          </a:xfrm>
          <a:prstGeom prst="roundRect">
            <a:avLst>
              <a:gd name="adj" fmla="val 5806"/>
            </a:avLst>
          </a:prstGeom>
          <a:solidFill>
            <a:srgbClr val="1D3550"/>
          </a:solidFill>
          <a:ln w="12700">
            <a:solidFill>
              <a:srgbClr val="29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28816" y="376732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D7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665976" y="434340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instances, automatically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81744" y="3611880"/>
            <a:ext cx="2624328" cy="1417320"/>
          </a:xfrm>
          <a:prstGeom prst="roundRect">
            <a:avLst>
              <a:gd name="adj" fmla="val 5806"/>
            </a:avLst>
          </a:prstGeom>
          <a:solidFill>
            <a:srgbClr val="1D3550"/>
          </a:solidFill>
          <a:ln w="12700">
            <a:solidFill>
              <a:srgbClr val="2946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381744" y="3767328"/>
            <a:ext cx="262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D7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518904" y="4343400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440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 are welcome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8704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Zeyad Bilal Gamal  ·  Benha University, Faculty of Engineering in Shoubra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3213</Words>
  <Application>Microsoft Office PowerPoint</Application>
  <PresentationFormat>Widescreen</PresentationFormat>
  <Paragraphs>375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Lumina Dental — AWS Architecture</dc:title>
  <dc:subject>PptxGenJS Presentation</dc:subject>
  <dc:creator>Zeyad Bilal Gamal</dc:creator>
  <cp:lastModifiedBy>زياد بلال جمال الدين الصياد</cp:lastModifiedBy>
  <cp:revision>16</cp:revision>
  <dcterms:created xsi:type="dcterms:W3CDTF">2026-08-28T20:47:21Z</dcterms:created>
  <dcterms:modified xsi:type="dcterms:W3CDTF">2026-08-30T01:15:17Z</dcterms:modified>
</cp:coreProperties>
</file>